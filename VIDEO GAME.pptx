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65" r:id="rId5"/>
    <p:sldId id="266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</p:sldIdLst>
  <p:sldSz cx="9601200" cy="73152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4367"/>
    <a:srgbClr val="396E16"/>
    <a:srgbClr val="1EB7AB"/>
    <a:srgbClr val="6F2D1C"/>
    <a:srgbClr val="326C1A"/>
    <a:srgbClr val="D3D163"/>
    <a:srgbClr val="BDCF71"/>
    <a:srgbClr val="000000"/>
    <a:srgbClr val="4B4A38"/>
    <a:srgbClr val="3D6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447" autoAdjust="0"/>
  </p:normalViewPr>
  <p:slideViewPr>
    <p:cSldViewPr snapToGrid="0">
      <p:cViewPr varScale="1">
        <p:scale>
          <a:sx n="67" d="100"/>
          <a:sy n="67" d="100"/>
        </p:scale>
        <p:origin x="1838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086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02FABE-A9F8-3FBF-EBFF-6E1E5A6DFE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87B76-CB50-59E4-1E10-54A1A4B1EE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7CEE0-6527-4ACE-8344-3532FE73E54C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F300C-73A1-9F7E-0D07-CE2D90BB0D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9B022-BA34-C57F-8002-0A2DD692FF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BB5AC-4D0D-4B0D-AB23-2E60063FF7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290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E6DDF-B07E-4956-AAAD-50CA7FDBFD6B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71613" y="1173163"/>
            <a:ext cx="41592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7735C-52C5-4AEB-83FD-85FCC044B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9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441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88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702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423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141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75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16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CF6D789D-CBE8-6D4C-8EE3-8008F5F728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800600" cy="730818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910128"/>
            <a:ext cx="3885523" cy="1375871"/>
          </a:xfrm>
          <a:solidFill>
            <a:schemeClr val="accent1"/>
          </a:solidFill>
        </p:spPr>
        <p:txBody>
          <a:bodyPr lIns="411480">
            <a:noAutofit/>
          </a:bodyPr>
          <a:lstStyle>
            <a:lvl1pPr>
              <a:defRPr lang="en-US" sz="3200" kern="1200">
                <a:solidFill>
                  <a:schemeClr val="bg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00600" y="0"/>
            <a:ext cx="4800600" cy="732887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532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  <p15:guide id="2" pos="2448">
          <p15:clr>
            <a:srgbClr val="FBAE40"/>
          </p15:clr>
        </p15:guide>
        <p15:guide id="3" orient="horz" pos="57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4450"/>
            <a:ext cx="4495800" cy="834230"/>
          </a:xfrm>
        </p:spPr>
        <p:txBody>
          <a:bodyPr/>
          <a:lstStyle>
            <a:lvl1pPr>
              <a:defRPr lang="en-US" sz="2800" kern="1200">
                <a:solidFill>
                  <a:schemeClr val="accent2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611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3594"/>
            <a:ext cx="4413503" cy="825086"/>
          </a:xfrm>
        </p:spPr>
        <p:txBody>
          <a:bodyPr/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88686" y="226228"/>
            <a:ext cx="4507714" cy="468589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95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4450"/>
            <a:ext cx="4495800" cy="834230"/>
          </a:xfrm>
        </p:spPr>
        <p:txBody>
          <a:bodyPr/>
          <a:lstStyle>
            <a:lvl1pPr>
              <a:defRPr lang="en-US" sz="2800" kern="1200">
                <a:solidFill>
                  <a:schemeClr val="accent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87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094" y="226228"/>
            <a:ext cx="4663440" cy="468589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9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4450"/>
            <a:ext cx="4495800" cy="834230"/>
          </a:xfrm>
        </p:spPr>
        <p:txBody>
          <a:bodyPr/>
          <a:lstStyle>
            <a:lvl1pPr>
              <a:defRPr lang="en-US" sz="2800" kern="1200">
                <a:solidFill>
                  <a:schemeClr val="accent2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95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0326" y="226228"/>
            <a:ext cx="2816352" cy="468589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22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4450"/>
            <a:ext cx="4495800" cy="834230"/>
          </a:xfrm>
        </p:spPr>
        <p:txBody>
          <a:bodyPr/>
          <a:lstStyle>
            <a:lvl1pPr>
              <a:defRPr lang="en-US" sz="2800" kern="1200">
                <a:solidFill>
                  <a:schemeClr val="accent4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28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2703" y="263552"/>
            <a:ext cx="4233672" cy="468589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04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389468"/>
            <a:ext cx="828103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947333"/>
            <a:ext cx="828103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82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4" r:id="rId3"/>
    <p:sldLayoutId id="2147483671" r:id="rId4"/>
    <p:sldLayoutId id="2147483675" r:id="rId5"/>
    <p:sldLayoutId id="2147483672" r:id="rId6"/>
    <p:sldLayoutId id="2147483676" r:id="rId7"/>
    <p:sldLayoutId id="2147483673" r:id="rId8"/>
    <p:sldLayoutId id="2147483677" r:id="rId9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" userDrawn="1">
          <p15:clr>
            <a:srgbClr val="F26B43"/>
          </p15:clr>
        </p15:guide>
        <p15:guide id="2" pos="5856" userDrawn="1">
          <p15:clr>
            <a:srgbClr val="F26B43"/>
          </p15:clr>
        </p15:guide>
        <p15:guide id="3" pos="192" userDrawn="1">
          <p15:clr>
            <a:srgbClr val="F26B43"/>
          </p15:clr>
        </p15:guide>
        <p15:guide id="4" orient="horz" pos="23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amerku.com/5-remake-video-game-terbaik-sepanjang-masa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gregorut/videogamesale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Succulent mix to color">
            <a:extLst>
              <a:ext uri="{FF2B5EF4-FFF2-40B4-BE49-F238E27FC236}">
                <a16:creationId xmlns:a16="http://schemas.microsoft.com/office/drawing/2014/main" id="{461509BB-45D2-4928-A21A-85F949E9E03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0" y="0"/>
            <a:ext cx="9601200" cy="730818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3518BAC-F0A1-A547-8EF5-B340CE8C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914400"/>
            <a:ext cx="5097442" cy="2377440"/>
          </a:xfrm>
          <a:solidFill>
            <a:schemeClr val="accent5">
              <a:lumMod val="75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/>
          <a:lstStyle/>
          <a:p>
            <a:r>
              <a:rPr lang="en-US" sz="4000" dirty="0">
                <a:latin typeface="ROG Fonts" panose="00000500000000000000" pitchFamily="50" charset="0"/>
              </a:rPr>
              <a:t>VIDEO     GAME</a:t>
            </a:r>
            <a:br>
              <a:rPr lang="en-US" sz="4000" dirty="0">
                <a:latin typeface="ROG Fonts" panose="00000500000000000000" pitchFamily="50" charset="0"/>
              </a:rPr>
            </a:br>
            <a:br>
              <a:rPr lang="en-US" sz="4000" dirty="0">
                <a:latin typeface="ROG Fonts" panose="00000500000000000000" pitchFamily="50" charset="0"/>
              </a:rPr>
            </a:br>
            <a:r>
              <a:rPr lang="en-US" sz="4000" dirty="0">
                <a:latin typeface="ROG Fonts" panose="00000500000000000000" pitchFamily="50" charset="0"/>
              </a:rPr>
              <a:t>       SALES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45B5DF1-CDC2-817E-30F7-8C522CA9CE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32687" r="32687"/>
          <a:stretch/>
        </p:blipFill>
        <p:spPr>
          <a:xfrm>
            <a:off x="5554979" y="-21306"/>
            <a:ext cx="4046221" cy="732948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4EF066-A9F3-120C-038A-0F5C505E9DAE}"/>
              </a:ext>
            </a:extLst>
          </p:cNvPr>
          <p:cNvSpPr txBox="1"/>
          <p:nvPr/>
        </p:nvSpPr>
        <p:spPr>
          <a:xfrm>
            <a:off x="304800" y="5615970"/>
            <a:ext cx="4331970" cy="15696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Bodoni MT" panose="02070603080606020203" pitchFamily="18" charset="0"/>
              </a:rPr>
              <a:t>SUBMITTED BY:</a:t>
            </a:r>
          </a:p>
          <a:p>
            <a:r>
              <a:rPr lang="en-IN" sz="2400" dirty="0">
                <a:latin typeface="Bodoni MT" panose="02070603080606020203" pitchFamily="18" charset="0"/>
              </a:rPr>
              <a:t>  			   HASNAA</a:t>
            </a:r>
          </a:p>
          <a:p>
            <a:pPr algn="r"/>
            <a:r>
              <a:rPr lang="en-IN" sz="2400" dirty="0">
                <a:latin typeface="Bodoni MT" panose="02070603080606020203" pitchFamily="18" charset="0"/>
              </a:rPr>
              <a:t>  DATA ANALYTICS</a:t>
            </a:r>
          </a:p>
          <a:p>
            <a:r>
              <a:rPr lang="en-IN" sz="2400" dirty="0">
                <a:latin typeface="Bodoni MT" panose="02070603080606020203" pitchFamily="18" charset="0"/>
              </a:rPr>
              <a:t>			   EXCEL</a:t>
            </a:r>
          </a:p>
        </p:txBody>
      </p:sp>
    </p:spTree>
    <p:extLst>
      <p:ext uri="{BB962C8B-B14F-4D97-AF65-F5344CB8AC3E}">
        <p14:creationId xmlns:p14="http://schemas.microsoft.com/office/powerpoint/2010/main" val="134393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D97AAAF-C4A0-6631-94AD-109EF76549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9601200" cy="7315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F5A78A-2700-1991-891D-607A332FA26C}"/>
              </a:ext>
            </a:extLst>
          </p:cNvPr>
          <p:cNvSpPr txBox="1"/>
          <p:nvPr/>
        </p:nvSpPr>
        <p:spPr>
          <a:xfrm>
            <a:off x="628650" y="810667"/>
            <a:ext cx="83439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1" dirty="0">
                <a:latin typeface="ROG Fonts" panose="00000500000000000000" pitchFamily="50" charset="0"/>
              </a:rPr>
              <a:t>INTRODUCTION</a:t>
            </a:r>
          </a:p>
          <a:p>
            <a:pPr algn="ctr"/>
            <a:endParaRPr lang="en-IN" sz="4000" b="1" i="1" dirty="0">
              <a:latin typeface="Bahnschrift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The video game industry is one of the largest and fastest-growing segments of the global entertainment market.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Video game sales data provides insights into consumer preferences across platforms, genres, and regions.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err="1">
                <a:latin typeface="Bahnschrift SemiLight Condensed" panose="020B0502040204020203" pitchFamily="34" charset="0"/>
              </a:rPr>
              <a:t>Analyzing</a:t>
            </a:r>
            <a:r>
              <a:rPr lang="en-IN" sz="2400" dirty="0">
                <a:latin typeface="Bahnschrift SemiLight Condensed" panose="020B0502040204020203" pitchFamily="34" charset="0"/>
              </a:rPr>
              <a:t> sales trends helps understand which games and publishers perform best worldwide.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Regional sales comparisons highlight market differences between North America, Europe, Japan, and other regions.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53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2" descr="Echevaria to color">
            <a:extLst>
              <a:ext uri="{FF2B5EF4-FFF2-40B4-BE49-F238E27FC236}">
                <a16:creationId xmlns:a16="http://schemas.microsoft.com/office/drawing/2014/main" id="{100B04AF-5F11-E92A-C2C2-122F565864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0" y="0"/>
            <a:ext cx="9601200" cy="732887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6EBCCF-2D7C-8139-D71F-898E8358B652}"/>
              </a:ext>
            </a:extLst>
          </p:cNvPr>
          <p:cNvSpPr txBox="1"/>
          <p:nvPr/>
        </p:nvSpPr>
        <p:spPr>
          <a:xfrm>
            <a:off x="1017270" y="647700"/>
            <a:ext cx="77266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1" dirty="0">
                <a:latin typeface="ROG Fonts" panose="00000500000000000000" pitchFamily="50" charset="0"/>
              </a:rPr>
              <a:t>OBJECTIVES</a:t>
            </a:r>
            <a:endParaRPr lang="en-IN" sz="2800" b="1" i="1" dirty="0">
              <a:latin typeface="ROG Fonts" panose="00000500000000000000" pitchFamily="50" charset="0"/>
            </a:endParaRPr>
          </a:p>
          <a:p>
            <a:pPr algn="ctr"/>
            <a:endParaRPr lang="en-IN" sz="2800" b="1" i="1" dirty="0">
              <a:latin typeface="ROG Fonts" panose="00000500000000000000" pitchFamily="50" charset="0"/>
            </a:endParaRPr>
          </a:p>
          <a:p>
            <a:pPr algn="ctr"/>
            <a:endParaRPr lang="en-IN" sz="2800" b="1" i="1" dirty="0">
              <a:latin typeface="ROG Fonts" panose="00000500000000000000" pitchFamily="50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To </a:t>
            </a:r>
            <a:r>
              <a:rPr lang="en-IN" sz="2400" dirty="0" err="1">
                <a:latin typeface="Bahnschrift SemiLight Condensed" panose="020B0502040204020203" pitchFamily="34" charset="0"/>
              </a:rPr>
              <a:t>analyze</a:t>
            </a:r>
            <a:r>
              <a:rPr lang="en-IN" sz="2400" dirty="0">
                <a:latin typeface="Bahnschrift SemiLight Condensed" panose="020B0502040204020203" pitchFamily="34" charset="0"/>
              </a:rPr>
              <a:t> global video game sales across different regions.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To identify top-selling video games, platforms, and genre.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To compare sales performance of major publishers.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To examine the growth pattern of video game sales over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To identify regional market leaders in the gaming industry.</a:t>
            </a:r>
          </a:p>
        </p:txBody>
      </p:sp>
    </p:spTree>
    <p:extLst>
      <p:ext uri="{BB962C8B-B14F-4D97-AF65-F5344CB8AC3E}">
        <p14:creationId xmlns:p14="http://schemas.microsoft.com/office/powerpoint/2010/main" val="108909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2" descr="Succulent mix to color">
            <a:extLst>
              <a:ext uri="{FF2B5EF4-FFF2-40B4-BE49-F238E27FC236}">
                <a16:creationId xmlns:a16="http://schemas.microsoft.com/office/drawing/2014/main" id="{4F0EC7E2-789D-30E7-C8E7-8844612B382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0" y="0"/>
            <a:ext cx="9601200" cy="731520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CC257F-1C81-FB74-35E9-85414565DDDD}"/>
              </a:ext>
            </a:extLst>
          </p:cNvPr>
          <p:cNvSpPr txBox="1"/>
          <p:nvPr/>
        </p:nvSpPr>
        <p:spPr>
          <a:xfrm>
            <a:off x="3314700" y="445770"/>
            <a:ext cx="3131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i="1" dirty="0">
                <a:latin typeface="ROG Fonts" panose="00000500000000000000" pitchFamily="50" charset="0"/>
              </a:rPr>
              <a:t>DATASET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F3F15F-3CE5-0AEF-CEF5-B398108906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1275912"/>
            <a:ext cx="8991600" cy="57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2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2" descr="Agave to color">
            <a:extLst>
              <a:ext uri="{FF2B5EF4-FFF2-40B4-BE49-F238E27FC236}">
                <a16:creationId xmlns:a16="http://schemas.microsoft.com/office/drawing/2014/main" id="{844D266F-DC73-A317-238D-F5BA48BBF1E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" r="180"/>
          <a:stretch/>
        </p:blipFill>
        <p:spPr>
          <a:xfrm>
            <a:off x="0" y="0"/>
            <a:ext cx="9601200" cy="732887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78C6A2-F90F-A98C-5A5A-F0E3BC70C53F}"/>
              </a:ext>
            </a:extLst>
          </p:cNvPr>
          <p:cNvSpPr txBox="1"/>
          <p:nvPr/>
        </p:nvSpPr>
        <p:spPr>
          <a:xfrm>
            <a:off x="2154555" y="248777"/>
            <a:ext cx="5292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i="1" dirty="0">
                <a:latin typeface="ROG Fonts" panose="00000500000000000000" pitchFamily="50" charset="0"/>
              </a:rPr>
              <a:t>PIVOT TABLES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670A7C-5E0A-3DA3-AF54-7FA013CDF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50" y="1669474"/>
            <a:ext cx="2029108" cy="55099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C38BA5E-E103-8D3D-D223-A36BF8F88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686" y="1669474"/>
            <a:ext cx="1924319" cy="22863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D4EF6D-2146-5F0D-CDE5-6A12656CAD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2869" y="5170944"/>
            <a:ext cx="2029107" cy="12984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C10D14-FDD4-0230-CD80-35B51DA933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5170944"/>
            <a:ext cx="2743200" cy="19433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207462B-3A81-9B65-AF7D-1E337D973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933" y="1669474"/>
            <a:ext cx="3966537" cy="2314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B0DC5D6-F9AC-054C-49CF-E6EEF3EDE713}"/>
              </a:ext>
            </a:extLst>
          </p:cNvPr>
          <p:cNvSpPr txBox="1"/>
          <p:nvPr/>
        </p:nvSpPr>
        <p:spPr>
          <a:xfrm>
            <a:off x="2825686" y="1188720"/>
            <a:ext cx="197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 SemiLight Condensed" panose="020B0502040204020203" pitchFamily="34" charset="0"/>
              </a:rPr>
              <a:t>Global sales by genre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FC6218-E7FD-8DAB-5AC2-74892ABD239C}"/>
              </a:ext>
            </a:extLst>
          </p:cNvPr>
          <p:cNvSpPr txBox="1"/>
          <p:nvPr/>
        </p:nvSpPr>
        <p:spPr>
          <a:xfrm>
            <a:off x="5337810" y="1188720"/>
            <a:ext cx="3726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 SemiLight Condensed" panose="020B0502040204020203" pitchFamily="34" charset="0"/>
              </a:rPr>
              <a:t>Regional sales by genre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B487A4-22EA-2DA5-1215-97B195D262CB}"/>
              </a:ext>
            </a:extLst>
          </p:cNvPr>
          <p:cNvSpPr txBox="1"/>
          <p:nvPr/>
        </p:nvSpPr>
        <p:spPr>
          <a:xfrm>
            <a:off x="3113855" y="4617720"/>
            <a:ext cx="1767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 SemiLight Condensed" panose="020B0502040204020203" pitchFamily="34" charset="0"/>
              </a:rPr>
              <a:t>Sales distribution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A643BA-ACA1-A227-3FB5-E9A872803F5C}"/>
              </a:ext>
            </a:extLst>
          </p:cNvPr>
          <p:cNvSpPr txBox="1"/>
          <p:nvPr/>
        </p:nvSpPr>
        <p:spPr>
          <a:xfrm>
            <a:off x="6181414" y="4617720"/>
            <a:ext cx="211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 SemiLight Condensed" panose="020B0502040204020203" pitchFamily="34" charset="0"/>
              </a:rPr>
              <a:t>Top 10 publisher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72B5D5-5EB8-9F17-A510-1540F344A791}"/>
              </a:ext>
            </a:extLst>
          </p:cNvPr>
          <p:cNvSpPr txBox="1"/>
          <p:nvPr/>
        </p:nvSpPr>
        <p:spPr>
          <a:xfrm>
            <a:off x="259368" y="1004845"/>
            <a:ext cx="2029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ahnschrift SemiLight Condensed" panose="020B0502040204020203" pitchFamily="34" charset="0"/>
              </a:rPr>
              <a:t>G</a:t>
            </a:r>
            <a:r>
              <a:rPr lang="en-IN" dirty="0">
                <a:latin typeface="Bahnschrift SemiLight Condensed" panose="020B0502040204020203" pitchFamily="34" charset="0"/>
              </a:rPr>
              <a:t>lobal sales trend by year</a:t>
            </a:r>
          </a:p>
        </p:txBody>
      </p:sp>
    </p:spTree>
    <p:extLst>
      <p:ext uri="{BB962C8B-B14F-4D97-AF65-F5344CB8AC3E}">
        <p14:creationId xmlns:p14="http://schemas.microsoft.com/office/powerpoint/2010/main" val="287317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2" descr="agave leaves to color">
            <a:extLst>
              <a:ext uri="{FF2B5EF4-FFF2-40B4-BE49-F238E27FC236}">
                <a16:creationId xmlns:a16="http://schemas.microsoft.com/office/drawing/2014/main" id="{53CB4251-EBAC-833C-E406-E6A6261F7F9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" r="37"/>
          <a:stretch/>
        </p:blipFill>
        <p:spPr>
          <a:xfrm>
            <a:off x="0" y="0"/>
            <a:ext cx="9601200" cy="732887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2B0D93-B1AB-CDA0-E44A-1C88E138BDD9}"/>
              </a:ext>
            </a:extLst>
          </p:cNvPr>
          <p:cNvSpPr txBox="1"/>
          <p:nvPr/>
        </p:nvSpPr>
        <p:spPr>
          <a:xfrm>
            <a:off x="971550" y="502920"/>
            <a:ext cx="789813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i="1" dirty="0">
                <a:latin typeface="ROG Fonts" panose="00000500000000000000" pitchFamily="50" charset="0"/>
              </a:rPr>
              <a:t>CRITERIA</a:t>
            </a:r>
          </a:p>
          <a:p>
            <a:pPr algn="ctr"/>
            <a:endParaRPr lang="en-IN" sz="3600" i="1" dirty="0">
              <a:latin typeface="ROG Fonts" panose="00000500000000000000" pitchFamily="50" charset="0"/>
            </a:endParaRPr>
          </a:p>
          <a:p>
            <a:pPr algn="ctr"/>
            <a:endParaRPr lang="en-IN" sz="3600" i="1" dirty="0">
              <a:latin typeface="ROG Fonts" panose="00000500000000000000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Analysis of year-wise trends in global sales performance – line chart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Evaluation of global sales based on genre – 3D bar chart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Top 10 publisher based on global sales – Donut chart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Analysis of region sales distribution across genres – Clustered column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Regional contribution sales – Pie chart</a:t>
            </a:r>
          </a:p>
        </p:txBody>
      </p:sp>
    </p:spTree>
    <p:extLst>
      <p:ext uri="{BB962C8B-B14F-4D97-AF65-F5344CB8AC3E}">
        <p14:creationId xmlns:p14="http://schemas.microsoft.com/office/powerpoint/2010/main" val="217032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03E78B-B2AF-8D28-52D8-16197A3555A2}"/>
              </a:ext>
            </a:extLst>
          </p:cNvPr>
          <p:cNvSpPr txBox="1"/>
          <p:nvPr/>
        </p:nvSpPr>
        <p:spPr>
          <a:xfrm>
            <a:off x="2160270" y="411480"/>
            <a:ext cx="5474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i="1" dirty="0">
                <a:latin typeface="ROG Fonts" panose="00000500000000000000" pitchFamily="50" charset="0"/>
              </a:rPr>
              <a:t>DASHBOARD</a:t>
            </a:r>
          </a:p>
        </p:txBody>
      </p:sp>
      <p:pic>
        <p:nvPicPr>
          <p:cNvPr id="6" name="Picture Placeholder 2" descr="Echevaria to color">
            <a:extLst>
              <a:ext uri="{FF2B5EF4-FFF2-40B4-BE49-F238E27FC236}">
                <a16:creationId xmlns:a16="http://schemas.microsoft.com/office/drawing/2014/main" id="{6332B379-C4EC-DE1F-6B4D-A2D9532EC36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0" y="0"/>
            <a:ext cx="9601200" cy="7328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E326AE-EDF6-83FA-8235-642094A761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2" t="790" r="932" b="1383"/>
          <a:stretch>
            <a:fillRect/>
          </a:stretch>
        </p:blipFill>
        <p:spPr>
          <a:xfrm>
            <a:off x="304800" y="1303020"/>
            <a:ext cx="899160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52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2" descr="Agave to color">
            <a:extLst>
              <a:ext uri="{FF2B5EF4-FFF2-40B4-BE49-F238E27FC236}">
                <a16:creationId xmlns:a16="http://schemas.microsoft.com/office/drawing/2014/main" id="{607A281B-E770-E21D-76B2-9DD0A54424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" r="180"/>
          <a:stretch/>
        </p:blipFill>
        <p:spPr>
          <a:xfrm>
            <a:off x="0" y="0"/>
            <a:ext cx="9601200" cy="73288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0C3149-8C27-6691-3D45-6E93A7DCC739}"/>
              </a:ext>
            </a:extLst>
          </p:cNvPr>
          <p:cNvSpPr txBox="1"/>
          <p:nvPr/>
        </p:nvSpPr>
        <p:spPr>
          <a:xfrm>
            <a:off x="1000125" y="925830"/>
            <a:ext cx="76009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i="1" dirty="0">
                <a:latin typeface="ROG Fonts" panose="00000500000000000000" pitchFamily="50" charset="0"/>
              </a:rPr>
              <a:t>CONCLUSION</a:t>
            </a:r>
          </a:p>
          <a:p>
            <a:pPr algn="ctr"/>
            <a:endParaRPr lang="en-IN" sz="3600" i="1" dirty="0">
              <a:latin typeface="ROG Fonts" panose="00000500000000000000" pitchFamily="50" charset="0"/>
            </a:endParaRPr>
          </a:p>
          <a:p>
            <a:pPr algn="ctr"/>
            <a:endParaRPr lang="en-IN" sz="3600" i="1" dirty="0">
              <a:latin typeface="ROG Fonts" panose="00000500000000000000" pitchFamily="50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The video game industry continues to show strong and consistent growth across global markets.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Sales analysis reveals that consoles dominate the market, with action and sports genres leading in popularity.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North America and Europe contributes the largest  share of global sales.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48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2" descr="Echevaria to color">
            <a:extLst>
              <a:ext uri="{FF2B5EF4-FFF2-40B4-BE49-F238E27FC236}">
                <a16:creationId xmlns:a16="http://schemas.microsoft.com/office/drawing/2014/main" id="{C71DF5DF-B739-8D0C-1BA0-7D8233F5350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0" y="0"/>
            <a:ext cx="9601200" cy="73288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E5FB29-821C-C12C-06F9-773A947C158F}"/>
              </a:ext>
            </a:extLst>
          </p:cNvPr>
          <p:cNvSpPr txBox="1"/>
          <p:nvPr/>
        </p:nvSpPr>
        <p:spPr>
          <a:xfrm>
            <a:off x="1440180" y="811530"/>
            <a:ext cx="700659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i="1" dirty="0">
                <a:latin typeface="ROG Fonts" panose="00000500000000000000" pitchFamily="50" charset="0"/>
              </a:rPr>
              <a:t>REFERENCES</a:t>
            </a:r>
          </a:p>
          <a:p>
            <a:pPr algn="ctr"/>
            <a:endParaRPr lang="en-IN" sz="3600" i="1" dirty="0">
              <a:latin typeface="ROG Fonts" panose="00000500000000000000" pitchFamily="50" charset="0"/>
            </a:endParaRPr>
          </a:p>
          <a:p>
            <a:pPr algn="ctr"/>
            <a:endParaRPr lang="en-IN" sz="3600" i="1" dirty="0">
              <a:latin typeface="ROG Fonts" panose="00000500000000000000" pitchFamily="50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  <a:hlinkClick r:id="rId3"/>
              </a:rPr>
              <a:t>https://www.kaggle.com/datasets/gregorut/videogamesales</a:t>
            </a:r>
            <a:endParaRPr lang="en-IN" sz="2400" dirty="0">
              <a:latin typeface="Bahnschrift SemiLight Condensed" panose="020B05020402040202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2400" dirty="0">
                <a:latin typeface="Bahnschrift SemiLight Condensed" panose="020B0502040204020203" pitchFamily="34" charset="0"/>
              </a:rPr>
              <a:t>Microsoft excel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2400" dirty="0">
              <a:latin typeface="Bahnschrift Semi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40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2" descr="Agave to color">
            <a:extLst>
              <a:ext uri="{FF2B5EF4-FFF2-40B4-BE49-F238E27FC236}">
                <a16:creationId xmlns:a16="http://schemas.microsoft.com/office/drawing/2014/main" id="{5F928A2A-7C6F-CBD2-6FD7-F7033C95F42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" r="180"/>
          <a:stretch/>
        </p:blipFill>
        <p:spPr>
          <a:xfrm>
            <a:off x="0" y="0"/>
            <a:ext cx="9601200" cy="73288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5AF884-32C4-B676-418F-68E97169D3EB}"/>
              </a:ext>
            </a:extLst>
          </p:cNvPr>
          <p:cNvSpPr txBox="1"/>
          <p:nvPr/>
        </p:nvSpPr>
        <p:spPr>
          <a:xfrm>
            <a:off x="2601277" y="3050457"/>
            <a:ext cx="48561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ROG Fonts" panose="00000500000000000000" pitchFamily="50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59016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6E16"/>
      </a:accent1>
      <a:accent2>
        <a:srgbClr val="894367"/>
      </a:accent2>
      <a:accent3>
        <a:srgbClr val="A5A5A5"/>
      </a:accent3>
      <a:accent4>
        <a:srgbClr val="1EB7AB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cculents paint by numbers_wac_SL_V2" id="{33390922-3AD3-4F0E-B655-1B6040980F03}" vid="{1CDF3896-84CC-4863-82B0-65777D42E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9DB501-FF1B-4BBB-BEAB-B1883ED1B1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DEA3237-0844-409D-81C8-4783A137AF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07ECF0-1983-4A3E-90F3-13D36DEA03EC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Succulents paint by numbers</Template>
  <TotalTime>289</TotalTime>
  <Words>284</Words>
  <Application>Microsoft Office PowerPoint</Application>
  <PresentationFormat>Custom</PresentationFormat>
  <Paragraphs>68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Bahnschrift</vt:lpstr>
      <vt:lpstr>Bahnschrift SemiLight Condensed</vt:lpstr>
      <vt:lpstr>Bodoni MT</vt:lpstr>
      <vt:lpstr>Calibri</vt:lpstr>
      <vt:lpstr>Calibri Light</vt:lpstr>
      <vt:lpstr>ROG Fonts</vt:lpstr>
      <vt:lpstr>Office Theme</vt:lpstr>
      <vt:lpstr>VIDEO     GAME         SALES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Hasnaa Haskar</dc:creator>
  <cp:lastModifiedBy>Hasnaa Haskar</cp:lastModifiedBy>
  <cp:revision>5</cp:revision>
  <dcterms:created xsi:type="dcterms:W3CDTF">2025-12-14T20:08:03Z</dcterms:created>
  <dcterms:modified xsi:type="dcterms:W3CDTF">2026-01-22T10:24:17Z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